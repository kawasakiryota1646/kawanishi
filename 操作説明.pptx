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4C23"/>
    <a:srgbClr val="4DD0E1"/>
    <a:srgbClr val="00BCD4"/>
    <a:srgbClr val="18881E"/>
    <a:srgbClr val="168812"/>
    <a:srgbClr val="173616"/>
    <a:srgbClr val="183114"/>
    <a:srgbClr val="D20608"/>
    <a:srgbClr val="66AA59"/>
    <a:srgbClr val="F7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32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9204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114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9893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5144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014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14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234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47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873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943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81FDF4-B71F-434F-B80C-6D5CDAFBF3C6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96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/>
          <p:cNvGrpSpPr/>
          <p:nvPr/>
        </p:nvGrpSpPr>
        <p:grpSpPr>
          <a:xfrm>
            <a:off x="4442194" y="122458"/>
            <a:ext cx="3307613" cy="939893"/>
            <a:chOff x="3356043" y="122458"/>
            <a:chExt cx="5479915" cy="939893"/>
          </a:xfrm>
        </p:grpSpPr>
        <p:sp>
          <p:nvSpPr>
            <p:cNvPr id="75" name="六角形 74"/>
            <p:cNvSpPr/>
            <p:nvPr/>
          </p:nvSpPr>
          <p:spPr>
            <a:xfrm>
              <a:off x="3356043" y="122458"/>
              <a:ext cx="5479915" cy="899056"/>
            </a:xfrm>
            <a:prstGeom prst="hexagon">
              <a:avLst/>
            </a:prstGeom>
            <a:solidFill>
              <a:schemeClr val="bg1"/>
            </a:solidFill>
            <a:ln w="38100">
              <a:solidFill>
                <a:srgbClr val="054C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テキスト ボックス 75"/>
            <p:cNvSpPr txBox="1"/>
            <p:nvPr/>
          </p:nvSpPr>
          <p:spPr>
            <a:xfrm>
              <a:off x="3603523" y="139021"/>
              <a:ext cx="498495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5400" b="1" dirty="0">
                  <a:ln w="22225">
                    <a:noFill/>
                    <a:prstDash val="solid"/>
                  </a:ln>
                </a:rPr>
                <a:t>遊び方</a:t>
              </a:r>
              <a:endParaRPr kumimoji="1" lang="ja-JP" altLang="en-US" sz="5400" b="1" dirty="0">
                <a:ln w="22225">
                  <a:noFill/>
                  <a:prstDash val="solid"/>
                </a:ln>
              </a:endParaRPr>
            </a:p>
          </p:txBody>
        </p:sp>
      </p:grpSp>
      <p:grpSp>
        <p:nvGrpSpPr>
          <p:cNvPr id="2" name="グループ化 1"/>
          <p:cNvGrpSpPr/>
          <p:nvPr/>
        </p:nvGrpSpPr>
        <p:grpSpPr>
          <a:xfrm>
            <a:off x="1704363" y="1140903"/>
            <a:ext cx="8791664" cy="4946247"/>
            <a:chOff x="1704363" y="1140903"/>
            <a:chExt cx="8791664" cy="4946247"/>
          </a:xfrm>
        </p:grpSpPr>
        <p:sp>
          <p:nvSpPr>
            <p:cNvPr id="6" name="角丸四角形 5"/>
            <p:cNvSpPr/>
            <p:nvPr/>
          </p:nvSpPr>
          <p:spPr>
            <a:xfrm>
              <a:off x="1704363" y="1140903"/>
              <a:ext cx="8783274" cy="4706224"/>
            </a:xfrm>
            <a:prstGeom prst="roundRect">
              <a:avLst>
                <a:gd name="adj" fmla="val 5615"/>
              </a:avLst>
            </a:prstGeom>
            <a:solidFill>
              <a:schemeClr val="bg1"/>
            </a:solidFill>
            <a:ln w="38100">
              <a:solidFill>
                <a:srgbClr val="054C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/>
            <p:cNvSpPr/>
            <p:nvPr/>
          </p:nvSpPr>
          <p:spPr>
            <a:xfrm>
              <a:off x="2768367" y="1342238"/>
              <a:ext cx="1853967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 b="1" dirty="0" smtClean="0"/>
                <a:t>操作方法</a:t>
              </a:r>
              <a:endParaRPr kumimoji="1" lang="ja-JP" altLang="en-US" sz="2000" b="1" dirty="0"/>
            </a:p>
          </p:txBody>
        </p:sp>
        <p:sp>
          <p:nvSpPr>
            <p:cNvPr id="8" name="角丸四角形 7"/>
            <p:cNvSpPr/>
            <p:nvPr/>
          </p:nvSpPr>
          <p:spPr>
            <a:xfrm>
              <a:off x="7214533" y="1342238"/>
              <a:ext cx="1644241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 b="1" dirty="0"/>
                <a:t>説明</a:t>
              </a:r>
              <a:endParaRPr kumimoji="1" lang="ja-JP" altLang="en-US" sz="2000" b="1" dirty="0"/>
            </a:p>
          </p:txBody>
        </p:sp>
        <p:sp>
          <p:nvSpPr>
            <p:cNvPr id="9" name="角丸四角形 8"/>
            <p:cNvSpPr/>
            <p:nvPr/>
          </p:nvSpPr>
          <p:spPr>
            <a:xfrm>
              <a:off x="2357306" y="1904301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>
                  <a:solidFill>
                    <a:schemeClr val="tx1"/>
                  </a:solidFill>
                </a:rPr>
                <a:t>W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角丸四角形 9"/>
            <p:cNvSpPr/>
            <p:nvPr/>
          </p:nvSpPr>
          <p:spPr>
            <a:xfrm>
              <a:off x="2357306" y="2509707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S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角丸四角形 10"/>
            <p:cNvSpPr/>
            <p:nvPr/>
          </p:nvSpPr>
          <p:spPr>
            <a:xfrm>
              <a:off x="2357306" y="3115113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D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角丸四角形 11"/>
            <p:cNvSpPr/>
            <p:nvPr/>
          </p:nvSpPr>
          <p:spPr>
            <a:xfrm>
              <a:off x="2357305" y="3720519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A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角丸四角形 12"/>
            <p:cNvSpPr/>
            <p:nvPr/>
          </p:nvSpPr>
          <p:spPr>
            <a:xfrm>
              <a:off x="2165757" y="4340604"/>
              <a:ext cx="871058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000" b="1" dirty="0" smtClean="0">
                  <a:solidFill>
                    <a:schemeClr val="tx1"/>
                  </a:solidFill>
                </a:rPr>
                <a:t>Shift</a:t>
              </a:r>
              <a:endParaRPr kumimoji="1" lang="ja-JP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角丸四角形 13"/>
            <p:cNvSpPr/>
            <p:nvPr/>
          </p:nvSpPr>
          <p:spPr>
            <a:xfrm>
              <a:off x="2357305" y="4960689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R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テキスト ボックス 50"/>
            <p:cNvSpPr txBox="1"/>
            <p:nvPr/>
          </p:nvSpPr>
          <p:spPr>
            <a:xfrm>
              <a:off x="2994870" y="1972693"/>
              <a:ext cx="9563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：前進</a:t>
              </a:r>
              <a:endParaRPr kumimoji="1" lang="ja-JP" altLang="en-US" sz="2000" b="1" dirty="0"/>
            </a:p>
          </p:txBody>
        </p:sp>
        <p:sp>
          <p:nvSpPr>
            <p:cNvPr id="52" name="テキスト ボックス 51"/>
            <p:cNvSpPr txBox="1"/>
            <p:nvPr/>
          </p:nvSpPr>
          <p:spPr>
            <a:xfrm>
              <a:off x="2994870" y="2586488"/>
              <a:ext cx="9563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：後退</a:t>
              </a:r>
              <a:endParaRPr kumimoji="1" lang="ja-JP" altLang="en-US" sz="2000" b="1" dirty="0"/>
            </a:p>
          </p:txBody>
        </p:sp>
        <p:sp>
          <p:nvSpPr>
            <p:cNvPr id="53" name="テキスト ボックス 52"/>
            <p:cNvSpPr txBox="1"/>
            <p:nvPr/>
          </p:nvSpPr>
          <p:spPr>
            <a:xfrm>
              <a:off x="3003259" y="3200283"/>
              <a:ext cx="12080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：右回転</a:t>
              </a:r>
              <a:endParaRPr kumimoji="1" lang="ja-JP" altLang="en-US" sz="2000" b="1" dirty="0"/>
            </a:p>
          </p:txBody>
        </p:sp>
        <p:sp>
          <p:nvSpPr>
            <p:cNvPr id="54" name="テキスト ボックス 53"/>
            <p:cNvSpPr txBox="1"/>
            <p:nvPr/>
          </p:nvSpPr>
          <p:spPr>
            <a:xfrm>
              <a:off x="3003259" y="3815359"/>
              <a:ext cx="12080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：左回転</a:t>
              </a:r>
              <a:endParaRPr kumimoji="1" lang="ja-JP" altLang="en-US" sz="2000" b="1" dirty="0"/>
            </a:p>
          </p:txBody>
        </p:sp>
        <p:sp>
          <p:nvSpPr>
            <p:cNvPr id="55" name="テキスト ボックス 54"/>
            <p:cNvSpPr txBox="1"/>
            <p:nvPr/>
          </p:nvSpPr>
          <p:spPr>
            <a:xfrm>
              <a:off x="3003259" y="4420883"/>
              <a:ext cx="14848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：ダッシュ</a:t>
              </a:r>
              <a:endParaRPr kumimoji="1" lang="ja-JP" altLang="en-US" sz="2000" b="1" dirty="0"/>
            </a:p>
          </p:txBody>
        </p:sp>
        <p:sp>
          <p:nvSpPr>
            <p:cNvPr id="56" name="テキスト ボックス 55"/>
            <p:cNvSpPr txBox="1"/>
            <p:nvPr/>
          </p:nvSpPr>
          <p:spPr>
            <a:xfrm>
              <a:off x="2994870" y="5049357"/>
              <a:ext cx="172813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：リスタート</a:t>
              </a:r>
              <a:endParaRPr kumimoji="1" lang="ja-JP" altLang="en-US" sz="2000" b="1" dirty="0"/>
            </a:p>
          </p:txBody>
        </p:sp>
        <p:cxnSp>
          <p:nvCxnSpPr>
            <p:cNvPr id="57" name="直線コネクタ 56"/>
            <p:cNvCxnSpPr/>
            <p:nvPr/>
          </p:nvCxnSpPr>
          <p:spPr>
            <a:xfrm>
              <a:off x="3095625" y="2452688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>
              <a:off x="3095625" y="3063882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>
              <a:off x="3095625" y="3675076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/>
            <p:cNvCxnSpPr/>
            <p:nvPr/>
          </p:nvCxnSpPr>
          <p:spPr>
            <a:xfrm>
              <a:off x="3095625" y="4281523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/>
            <p:cNvCxnSpPr/>
            <p:nvPr/>
          </p:nvCxnSpPr>
          <p:spPr>
            <a:xfrm>
              <a:off x="3095625" y="4887970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/>
            <p:cNvCxnSpPr/>
            <p:nvPr/>
          </p:nvCxnSpPr>
          <p:spPr>
            <a:xfrm>
              <a:off x="3095625" y="5494417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/>
            <p:cNvCxnSpPr/>
            <p:nvPr/>
          </p:nvCxnSpPr>
          <p:spPr>
            <a:xfrm>
              <a:off x="6000681" y="3120822"/>
              <a:ext cx="4162494" cy="0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/>
            <p:cNvCxnSpPr/>
            <p:nvPr/>
          </p:nvCxnSpPr>
          <p:spPr>
            <a:xfrm flipH="1">
              <a:off x="5705475" y="1347801"/>
              <a:ext cx="1201" cy="4248137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テキスト ボックス 65"/>
            <p:cNvSpPr txBox="1"/>
            <p:nvPr/>
          </p:nvSpPr>
          <p:spPr>
            <a:xfrm>
              <a:off x="5918609" y="1866175"/>
              <a:ext cx="457741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 dirty="0" smtClean="0"/>
                <a:t>・ダッシュはスタミナを消費する</a:t>
              </a:r>
              <a:endParaRPr kumimoji="1" lang="en-US" altLang="ja-JP" b="1" dirty="0" smtClean="0"/>
            </a:p>
            <a:p>
              <a:r>
                <a:rPr lang="ja-JP" altLang="en-US" b="1" dirty="0" smtClean="0"/>
                <a:t>・</a:t>
              </a:r>
              <a:r>
                <a:rPr lang="ja-JP" altLang="en-US" b="1" dirty="0"/>
                <a:t>スタミナは時間経過で少しずつ回復</a:t>
              </a:r>
              <a:r>
                <a:rPr lang="ja-JP" altLang="en-US" b="1" dirty="0" smtClean="0"/>
                <a:t>する</a:t>
              </a:r>
              <a:endParaRPr lang="en-US" altLang="ja-JP" b="1" dirty="0" smtClean="0"/>
            </a:p>
            <a:p>
              <a:r>
                <a:rPr lang="ja-JP" altLang="en-US" b="1" dirty="0" smtClean="0"/>
                <a:t>・</a:t>
              </a:r>
              <a:r>
                <a:rPr lang="ja-JP" altLang="en-US" b="1" dirty="0"/>
                <a:t>スタミナが０になると</a:t>
              </a:r>
              <a:endParaRPr lang="en-US" altLang="ja-JP" b="1" dirty="0"/>
            </a:p>
            <a:p>
              <a:r>
                <a:rPr lang="ja-JP" altLang="en-US" b="1" dirty="0" smtClean="0"/>
                <a:t>　全回復</a:t>
              </a:r>
              <a:r>
                <a:rPr lang="ja-JP" altLang="en-US" b="1" dirty="0"/>
                <a:t>するまで移動操作ができなくなる</a:t>
              </a:r>
              <a:endParaRPr lang="en-US" altLang="ja-JP" b="1" dirty="0"/>
            </a:p>
            <a:p>
              <a:endParaRPr lang="en-US" altLang="ja-JP" b="1" dirty="0"/>
            </a:p>
            <a:p>
              <a:endParaRPr kumimoji="1" lang="en-US" altLang="ja-JP" b="1" dirty="0" smtClean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5859885" y="3778826"/>
              <a:ext cx="462775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ja-JP"/>
              </a:defPPr>
              <a:lvl1pPr>
                <a:defRPr b="1"/>
              </a:lvl1pPr>
            </a:lstStyle>
            <a:p>
              <a:r>
                <a:rPr lang="ja-JP" altLang="en-US" sz="1600" dirty="0"/>
                <a:t>自転車を操作し、プレイヤーを落とさず</a:t>
              </a:r>
              <a:r>
                <a:rPr lang="ja-JP" altLang="en-US" sz="1600" dirty="0" smtClean="0"/>
                <a:t>に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ギミック</a:t>
              </a:r>
              <a:r>
                <a:rPr lang="ja-JP" altLang="en-US" sz="1600" dirty="0"/>
                <a:t>を突破</a:t>
              </a:r>
              <a:r>
                <a:rPr lang="ja-JP" altLang="en-US" sz="1600" dirty="0" smtClean="0"/>
                <a:t>して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ゴール</a:t>
              </a:r>
              <a:r>
                <a:rPr lang="ja-JP" altLang="en-US" sz="1600" dirty="0"/>
                <a:t>を</a:t>
              </a:r>
              <a:r>
                <a:rPr lang="ja-JP" altLang="en-US" sz="1600" dirty="0" smtClean="0"/>
                <a:t>目指すアクションゲーム。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プレイヤー</a:t>
              </a:r>
              <a:r>
                <a:rPr lang="ja-JP" altLang="en-US" sz="1600" dirty="0"/>
                <a:t>がゴールラインを越える</a:t>
              </a:r>
              <a:r>
                <a:rPr lang="ja-JP" altLang="en-US" sz="1600" dirty="0" smtClean="0"/>
                <a:t>と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クリア</a:t>
              </a:r>
              <a:r>
                <a:rPr lang="ja-JP" altLang="en-US" sz="1600" dirty="0"/>
                <a:t>となり、赤い床や天井に触れる</a:t>
              </a:r>
              <a:r>
                <a:rPr lang="ja-JP" altLang="en-US" sz="1600" dirty="0" smtClean="0"/>
                <a:t>、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プレイヤー</a:t>
              </a:r>
              <a:r>
                <a:rPr lang="ja-JP" altLang="en-US" sz="1600" dirty="0"/>
                <a:t>が落下する</a:t>
              </a:r>
              <a:r>
                <a:rPr lang="ja-JP" altLang="en-US" sz="1600" dirty="0" smtClean="0"/>
                <a:t>、</a:t>
              </a:r>
              <a:endParaRPr lang="en-US" altLang="ja-JP" sz="1600" dirty="0"/>
            </a:p>
            <a:p>
              <a:r>
                <a:rPr lang="ja-JP" altLang="en-US" sz="1600" dirty="0" smtClean="0"/>
                <a:t>また</a:t>
              </a:r>
              <a:r>
                <a:rPr lang="ja-JP" altLang="en-US" sz="1600" dirty="0"/>
                <a:t>は時間切れになるとゲームオーバーとなる。</a:t>
              </a:r>
            </a:p>
            <a:p>
              <a:endParaRPr lang="en-US" altLang="ja-JP" sz="1600" dirty="0"/>
            </a:p>
            <a:p>
              <a:endParaRPr lang="en-US" altLang="ja-JP" sz="1600" dirty="0"/>
            </a:p>
          </p:txBody>
        </p:sp>
        <p:sp>
          <p:nvSpPr>
            <p:cNvPr id="36" name="角丸四角形 35"/>
            <p:cNvSpPr/>
            <p:nvPr/>
          </p:nvSpPr>
          <p:spPr>
            <a:xfrm>
              <a:off x="7214533" y="3257725"/>
              <a:ext cx="1644241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 b="1" dirty="0" smtClean="0"/>
                <a:t>ゲーム内容</a:t>
              </a:r>
              <a:endParaRPr kumimoji="1" lang="ja-JP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11205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100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GA3</dc:creator>
  <cp:lastModifiedBy>GA3</cp:lastModifiedBy>
  <cp:revision>22</cp:revision>
  <dcterms:created xsi:type="dcterms:W3CDTF">2026-05-15T05:43:55Z</dcterms:created>
  <dcterms:modified xsi:type="dcterms:W3CDTF">2026-07-27T03:30:50Z</dcterms:modified>
</cp:coreProperties>
</file>