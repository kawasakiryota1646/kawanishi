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4C23"/>
    <a:srgbClr val="4DD0E1"/>
    <a:srgbClr val="00BCD4"/>
    <a:srgbClr val="18881E"/>
    <a:srgbClr val="168812"/>
    <a:srgbClr val="173616"/>
    <a:srgbClr val="183114"/>
    <a:srgbClr val="D20608"/>
    <a:srgbClr val="66AA59"/>
    <a:srgbClr val="F7F9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3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1FDF4-B71F-434F-B80C-6D5CDAFBF3C6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996CC-6599-430F-A488-90B586C683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732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1FDF4-B71F-434F-B80C-6D5CDAFBF3C6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996CC-6599-430F-A488-90B586C683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9204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1FDF4-B71F-434F-B80C-6D5CDAFBF3C6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996CC-6599-430F-A488-90B586C683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8114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1FDF4-B71F-434F-B80C-6D5CDAFBF3C6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996CC-6599-430F-A488-90B586C683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9893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1FDF4-B71F-434F-B80C-6D5CDAFBF3C6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996CC-6599-430F-A488-90B586C683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144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1FDF4-B71F-434F-B80C-6D5CDAFBF3C6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996CC-6599-430F-A488-90B586C683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0147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1FDF4-B71F-434F-B80C-6D5CDAFBF3C6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996CC-6599-430F-A488-90B586C683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3143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1FDF4-B71F-434F-B80C-6D5CDAFBF3C6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996CC-6599-430F-A488-90B586C683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3234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1FDF4-B71F-434F-B80C-6D5CDAFBF3C6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996CC-6599-430F-A488-90B586C683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0472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1FDF4-B71F-434F-B80C-6D5CDAFBF3C6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996CC-6599-430F-A488-90B586C683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5873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1FDF4-B71F-434F-B80C-6D5CDAFBF3C6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996CC-6599-430F-A488-90B586C683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9438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81FDF4-B71F-434F-B80C-6D5CDAFBF3C6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996CC-6599-430F-A488-90B586C683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960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6000" b="1" dirty="0" smtClean="0"/>
              <a:t>操作方法＆説明</a:t>
            </a:r>
            <a:endParaRPr kumimoji="1" lang="ja-JP" altLang="en-US" sz="6000" b="1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838200" y="1690688"/>
            <a:ext cx="11049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W</a:t>
            </a:r>
            <a:r>
              <a:rPr lang="ja-JP" altLang="en-US" sz="2800" dirty="0"/>
              <a:t>：前進</a:t>
            </a:r>
            <a:endParaRPr lang="en-US" altLang="ja-JP" sz="2800" dirty="0"/>
          </a:p>
          <a:p>
            <a:r>
              <a:rPr lang="en-US" altLang="ja-JP" sz="2800" dirty="0" smtClean="0"/>
              <a:t>S </a:t>
            </a:r>
            <a:r>
              <a:rPr lang="ja-JP" altLang="en-US" sz="2800" dirty="0" smtClean="0"/>
              <a:t>：後退</a:t>
            </a:r>
            <a:endParaRPr lang="en-US" altLang="ja-JP" sz="2800" dirty="0" smtClean="0"/>
          </a:p>
          <a:p>
            <a:r>
              <a:rPr lang="en-US" altLang="ja-JP" sz="2800" dirty="0" smtClean="0"/>
              <a:t>D</a:t>
            </a:r>
            <a:r>
              <a:rPr lang="ja-JP" altLang="en-US" sz="2800" dirty="0" smtClean="0"/>
              <a:t>：</a:t>
            </a:r>
            <a:r>
              <a:rPr lang="ja-JP" altLang="en-US" sz="2800" dirty="0"/>
              <a:t>右回転</a:t>
            </a:r>
            <a:endParaRPr lang="en-US" altLang="ja-JP" sz="2800" dirty="0"/>
          </a:p>
          <a:p>
            <a:r>
              <a:rPr lang="en-US" altLang="ja-JP" sz="2800" dirty="0" smtClean="0"/>
              <a:t>A</a:t>
            </a:r>
            <a:r>
              <a:rPr lang="ja-JP" altLang="en-US" sz="2800" dirty="0" smtClean="0"/>
              <a:t>：左回転</a:t>
            </a:r>
            <a:endParaRPr lang="en-US" altLang="ja-JP" sz="2800" dirty="0" smtClean="0"/>
          </a:p>
          <a:p>
            <a:r>
              <a:rPr lang="en-US" altLang="ja-JP" sz="2800" dirty="0"/>
              <a:t>Shift</a:t>
            </a:r>
            <a:r>
              <a:rPr lang="ja-JP" altLang="en-US" sz="2800" dirty="0" smtClean="0"/>
              <a:t>：加速</a:t>
            </a:r>
            <a:endParaRPr lang="en-US" altLang="ja-JP" sz="2800" dirty="0" smtClean="0"/>
          </a:p>
          <a:p>
            <a:r>
              <a:rPr lang="en-US" altLang="ja-JP" sz="2800" dirty="0" smtClean="0"/>
              <a:t>R</a:t>
            </a:r>
            <a:r>
              <a:rPr lang="ja-JP" altLang="en-US" sz="2800" dirty="0" smtClean="0"/>
              <a:t>：リスタート</a:t>
            </a:r>
            <a:endParaRPr lang="en-US" altLang="ja-JP" sz="2800" dirty="0" smtClean="0"/>
          </a:p>
          <a:p>
            <a:endParaRPr lang="en-US" altLang="ja-JP" sz="2800" dirty="0"/>
          </a:p>
          <a:p>
            <a:r>
              <a:rPr lang="ja-JP" altLang="en-US" sz="2800" dirty="0" smtClean="0"/>
              <a:t>ダッシュはスタミナ</a:t>
            </a:r>
            <a:r>
              <a:rPr lang="ja-JP" altLang="en-US" sz="2800" dirty="0"/>
              <a:t>を消費する</a:t>
            </a:r>
            <a:endParaRPr lang="en-US" altLang="ja-JP" sz="2800" dirty="0"/>
          </a:p>
          <a:p>
            <a:r>
              <a:rPr lang="ja-JP" altLang="en-US" sz="2800" dirty="0" smtClean="0"/>
              <a:t>スタミナ</a:t>
            </a:r>
            <a:r>
              <a:rPr lang="ja-JP" altLang="en-US" sz="2800" dirty="0"/>
              <a:t>は時間経過で少しずつ回復する</a:t>
            </a:r>
            <a:endParaRPr lang="en-US" altLang="ja-JP" sz="2800" dirty="0"/>
          </a:p>
          <a:p>
            <a:r>
              <a:rPr lang="ja-JP" altLang="en-US" sz="2800" dirty="0"/>
              <a:t>スタミナが０になると全回復するまで操作ができなくなる</a:t>
            </a:r>
          </a:p>
          <a:p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868511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角丸四角形 5"/>
          <p:cNvSpPr/>
          <p:nvPr/>
        </p:nvSpPr>
        <p:spPr>
          <a:xfrm>
            <a:off x="1704363" y="1140903"/>
            <a:ext cx="8783274" cy="4706224"/>
          </a:xfrm>
          <a:prstGeom prst="roundRect">
            <a:avLst>
              <a:gd name="adj" fmla="val 5615"/>
            </a:avLst>
          </a:prstGeom>
          <a:solidFill>
            <a:schemeClr val="bg1"/>
          </a:solidFill>
          <a:ln w="38100">
            <a:solidFill>
              <a:srgbClr val="054C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角丸四角形 6"/>
          <p:cNvSpPr/>
          <p:nvPr/>
        </p:nvSpPr>
        <p:spPr>
          <a:xfrm>
            <a:off x="2768367" y="1342238"/>
            <a:ext cx="1853967" cy="360727"/>
          </a:xfrm>
          <a:prstGeom prst="roundRect">
            <a:avLst>
              <a:gd name="adj" fmla="val 50000"/>
            </a:avLst>
          </a:prstGeom>
          <a:solidFill>
            <a:srgbClr val="025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 smtClean="0"/>
              <a:t>操作方法</a:t>
            </a:r>
            <a:endParaRPr kumimoji="1" lang="ja-JP" altLang="en-US" sz="2000" b="1" dirty="0"/>
          </a:p>
        </p:txBody>
      </p:sp>
      <p:sp>
        <p:nvSpPr>
          <p:cNvPr id="8" name="角丸四角形 7"/>
          <p:cNvSpPr/>
          <p:nvPr/>
        </p:nvSpPr>
        <p:spPr>
          <a:xfrm>
            <a:off x="7214533" y="1342238"/>
            <a:ext cx="1644241" cy="360727"/>
          </a:xfrm>
          <a:prstGeom prst="roundRect">
            <a:avLst>
              <a:gd name="adj" fmla="val 50000"/>
            </a:avLst>
          </a:prstGeom>
          <a:solidFill>
            <a:srgbClr val="025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/>
              <a:t>説明</a:t>
            </a:r>
            <a:endParaRPr kumimoji="1" lang="ja-JP" altLang="en-US" sz="2000" b="1" dirty="0"/>
          </a:p>
        </p:txBody>
      </p:sp>
      <p:sp>
        <p:nvSpPr>
          <p:cNvPr id="9" name="角丸四角形 8"/>
          <p:cNvSpPr/>
          <p:nvPr/>
        </p:nvSpPr>
        <p:spPr>
          <a:xfrm>
            <a:off x="2357306" y="1904301"/>
            <a:ext cx="503339" cy="503339"/>
          </a:xfrm>
          <a:prstGeom prst="roundRect">
            <a:avLst>
              <a:gd name="adj" fmla="val 1000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b="1" dirty="0">
                <a:solidFill>
                  <a:schemeClr val="tx1"/>
                </a:solidFill>
              </a:rPr>
              <a:t>W</a:t>
            </a:r>
            <a:endParaRPr kumimoji="1" lang="ja-JP" altLang="en-US" sz="2400" b="1" dirty="0">
              <a:solidFill>
                <a:schemeClr val="tx1"/>
              </a:solidFill>
            </a:endParaRPr>
          </a:p>
        </p:txBody>
      </p:sp>
      <p:sp>
        <p:nvSpPr>
          <p:cNvPr id="10" name="角丸四角形 9"/>
          <p:cNvSpPr/>
          <p:nvPr/>
        </p:nvSpPr>
        <p:spPr>
          <a:xfrm>
            <a:off x="2357306" y="2509707"/>
            <a:ext cx="503339" cy="503339"/>
          </a:xfrm>
          <a:prstGeom prst="roundRect">
            <a:avLst>
              <a:gd name="adj" fmla="val 1000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b="1" dirty="0" smtClean="0">
                <a:solidFill>
                  <a:schemeClr val="tx1"/>
                </a:solidFill>
              </a:rPr>
              <a:t>S</a:t>
            </a:r>
            <a:endParaRPr kumimoji="1" lang="ja-JP" altLang="en-US" sz="2400" b="1" dirty="0">
              <a:solidFill>
                <a:schemeClr val="tx1"/>
              </a:solidFill>
            </a:endParaRPr>
          </a:p>
        </p:txBody>
      </p:sp>
      <p:sp>
        <p:nvSpPr>
          <p:cNvPr id="11" name="角丸四角形 10"/>
          <p:cNvSpPr/>
          <p:nvPr/>
        </p:nvSpPr>
        <p:spPr>
          <a:xfrm>
            <a:off x="2357306" y="3115113"/>
            <a:ext cx="503339" cy="503339"/>
          </a:xfrm>
          <a:prstGeom prst="roundRect">
            <a:avLst>
              <a:gd name="adj" fmla="val 1000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b="1" dirty="0" smtClean="0">
                <a:solidFill>
                  <a:schemeClr val="tx1"/>
                </a:solidFill>
              </a:rPr>
              <a:t>D</a:t>
            </a:r>
            <a:endParaRPr kumimoji="1" lang="ja-JP" altLang="en-US" sz="2400" b="1" dirty="0">
              <a:solidFill>
                <a:schemeClr val="tx1"/>
              </a:solidFill>
            </a:endParaRPr>
          </a:p>
        </p:txBody>
      </p:sp>
      <p:sp>
        <p:nvSpPr>
          <p:cNvPr id="12" name="角丸四角形 11"/>
          <p:cNvSpPr/>
          <p:nvPr/>
        </p:nvSpPr>
        <p:spPr>
          <a:xfrm>
            <a:off x="2357305" y="3720519"/>
            <a:ext cx="503339" cy="503339"/>
          </a:xfrm>
          <a:prstGeom prst="roundRect">
            <a:avLst>
              <a:gd name="adj" fmla="val 1000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b="1" dirty="0" smtClean="0">
                <a:solidFill>
                  <a:schemeClr val="tx1"/>
                </a:solidFill>
              </a:rPr>
              <a:t>A</a:t>
            </a:r>
            <a:endParaRPr kumimoji="1" lang="ja-JP" altLang="en-US" sz="2400" b="1" dirty="0">
              <a:solidFill>
                <a:schemeClr val="tx1"/>
              </a:solidFill>
            </a:endParaRPr>
          </a:p>
        </p:txBody>
      </p:sp>
      <p:sp>
        <p:nvSpPr>
          <p:cNvPr id="13" name="角丸四角形 12"/>
          <p:cNvSpPr/>
          <p:nvPr/>
        </p:nvSpPr>
        <p:spPr>
          <a:xfrm>
            <a:off x="2165757" y="4340604"/>
            <a:ext cx="871058" cy="503339"/>
          </a:xfrm>
          <a:prstGeom prst="roundRect">
            <a:avLst>
              <a:gd name="adj" fmla="val 1000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 smtClean="0">
                <a:solidFill>
                  <a:schemeClr val="tx1"/>
                </a:solidFill>
              </a:rPr>
              <a:t>Shift</a:t>
            </a:r>
            <a:endParaRPr kumimoji="1" lang="ja-JP" altLang="en-US" sz="2000" b="1" dirty="0">
              <a:solidFill>
                <a:schemeClr val="tx1"/>
              </a:solidFill>
            </a:endParaRPr>
          </a:p>
        </p:txBody>
      </p:sp>
      <p:sp>
        <p:nvSpPr>
          <p:cNvPr id="14" name="角丸四角形 13"/>
          <p:cNvSpPr/>
          <p:nvPr/>
        </p:nvSpPr>
        <p:spPr>
          <a:xfrm>
            <a:off x="2357305" y="4960689"/>
            <a:ext cx="503339" cy="503339"/>
          </a:xfrm>
          <a:prstGeom prst="roundRect">
            <a:avLst>
              <a:gd name="adj" fmla="val 1000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b="1" dirty="0" smtClean="0">
                <a:solidFill>
                  <a:schemeClr val="tx1"/>
                </a:solidFill>
              </a:rPr>
              <a:t>R</a:t>
            </a:r>
            <a:endParaRPr kumimoji="1" lang="ja-JP" altLang="en-US" sz="2400" b="1" dirty="0">
              <a:solidFill>
                <a:schemeClr val="tx1"/>
              </a:solidFill>
            </a:endParaRPr>
          </a:p>
        </p:txBody>
      </p:sp>
      <p:sp>
        <p:nvSpPr>
          <p:cNvPr id="51" name="テキスト ボックス 50"/>
          <p:cNvSpPr txBox="1"/>
          <p:nvPr/>
        </p:nvSpPr>
        <p:spPr>
          <a:xfrm>
            <a:off x="2994870" y="1972693"/>
            <a:ext cx="9563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 smtClean="0"/>
              <a:t>：前進</a:t>
            </a:r>
            <a:endParaRPr kumimoji="1" lang="ja-JP" altLang="en-US" sz="2000" b="1" dirty="0"/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2994870" y="2586488"/>
            <a:ext cx="9563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 smtClean="0"/>
              <a:t>：後退</a:t>
            </a:r>
            <a:endParaRPr kumimoji="1" lang="ja-JP" altLang="en-US" sz="2000" b="1" dirty="0"/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3003259" y="3200283"/>
            <a:ext cx="12080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 smtClean="0"/>
              <a:t>：右回転</a:t>
            </a:r>
            <a:endParaRPr kumimoji="1" lang="ja-JP" altLang="en-US" sz="2000" b="1" dirty="0"/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3003259" y="3815359"/>
            <a:ext cx="12080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 smtClean="0"/>
              <a:t>：左回転</a:t>
            </a:r>
            <a:endParaRPr kumimoji="1" lang="ja-JP" altLang="en-US" sz="2000" b="1" dirty="0"/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3003259" y="4420883"/>
            <a:ext cx="14848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 smtClean="0"/>
              <a:t>：ダッシュ</a:t>
            </a:r>
            <a:endParaRPr kumimoji="1" lang="ja-JP" altLang="en-US" sz="2000" b="1" dirty="0"/>
          </a:p>
        </p:txBody>
      </p:sp>
      <p:sp>
        <p:nvSpPr>
          <p:cNvPr id="56" name="テキスト ボックス 55"/>
          <p:cNvSpPr txBox="1"/>
          <p:nvPr/>
        </p:nvSpPr>
        <p:spPr>
          <a:xfrm>
            <a:off x="2994870" y="5049357"/>
            <a:ext cx="17281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 smtClean="0"/>
              <a:t>：リスタート</a:t>
            </a:r>
            <a:endParaRPr kumimoji="1" lang="ja-JP" altLang="en-US" sz="2000" b="1" dirty="0"/>
          </a:p>
        </p:txBody>
      </p:sp>
      <p:cxnSp>
        <p:nvCxnSpPr>
          <p:cNvPr id="57" name="直線コネクタ 56"/>
          <p:cNvCxnSpPr/>
          <p:nvPr/>
        </p:nvCxnSpPr>
        <p:spPr>
          <a:xfrm>
            <a:off x="3095625" y="2452688"/>
            <a:ext cx="2152650" cy="394"/>
          </a:xfrm>
          <a:prstGeom prst="line">
            <a:avLst/>
          </a:prstGeom>
          <a:ln w="12700">
            <a:solidFill>
              <a:srgbClr val="66AA5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コネクタ 57"/>
          <p:cNvCxnSpPr/>
          <p:nvPr/>
        </p:nvCxnSpPr>
        <p:spPr>
          <a:xfrm>
            <a:off x="3095625" y="3063882"/>
            <a:ext cx="2152650" cy="394"/>
          </a:xfrm>
          <a:prstGeom prst="line">
            <a:avLst/>
          </a:prstGeom>
          <a:ln w="12700">
            <a:solidFill>
              <a:srgbClr val="66AA5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/>
          <p:cNvCxnSpPr/>
          <p:nvPr/>
        </p:nvCxnSpPr>
        <p:spPr>
          <a:xfrm>
            <a:off x="3095625" y="3675076"/>
            <a:ext cx="2152650" cy="394"/>
          </a:xfrm>
          <a:prstGeom prst="line">
            <a:avLst/>
          </a:prstGeom>
          <a:ln w="12700">
            <a:solidFill>
              <a:srgbClr val="66AA5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コネクタ 59"/>
          <p:cNvCxnSpPr/>
          <p:nvPr/>
        </p:nvCxnSpPr>
        <p:spPr>
          <a:xfrm>
            <a:off x="3095625" y="4281523"/>
            <a:ext cx="2152650" cy="394"/>
          </a:xfrm>
          <a:prstGeom prst="line">
            <a:avLst/>
          </a:prstGeom>
          <a:ln w="12700">
            <a:solidFill>
              <a:srgbClr val="66AA5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/>
          <p:cNvCxnSpPr/>
          <p:nvPr/>
        </p:nvCxnSpPr>
        <p:spPr>
          <a:xfrm>
            <a:off x="3095625" y="4887970"/>
            <a:ext cx="2152650" cy="394"/>
          </a:xfrm>
          <a:prstGeom prst="line">
            <a:avLst/>
          </a:prstGeom>
          <a:ln w="12700">
            <a:solidFill>
              <a:srgbClr val="66AA5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コネクタ 61"/>
          <p:cNvCxnSpPr/>
          <p:nvPr/>
        </p:nvCxnSpPr>
        <p:spPr>
          <a:xfrm>
            <a:off x="3095625" y="5494417"/>
            <a:ext cx="2152650" cy="394"/>
          </a:xfrm>
          <a:prstGeom prst="line">
            <a:avLst/>
          </a:prstGeom>
          <a:ln w="12700">
            <a:solidFill>
              <a:srgbClr val="66AA5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コネクタ 62"/>
          <p:cNvCxnSpPr/>
          <p:nvPr/>
        </p:nvCxnSpPr>
        <p:spPr>
          <a:xfrm>
            <a:off x="6000681" y="3120822"/>
            <a:ext cx="4162494" cy="0"/>
          </a:xfrm>
          <a:prstGeom prst="line">
            <a:avLst/>
          </a:prstGeom>
          <a:ln w="12700">
            <a:solidFill>
              <a:srgbClr val="66AA5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/>
          <p:cNvCxnSpPr/>
          <p:nvPr/>
        </p:nvCxnSpPr>
        <p:spPr>
          <a:xfrm flipH="1">
            <a:off x="5705475" y="1347801"/>
            <a:ext cx="1201" cy="4248137"/>
          </a:xfrm>
          <a:prstGeom prst="line">
            <a:avLst/>
          </a:prstGeom>
          <a:ln w="12700">
            <a:solidFill>
              <a:srgbClr val="66AA5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テキスト ボックス 65"/>
          <p:cNvSpPr txBox="1"/>
          <p:nvPr/>
        </p:nvSpPr>
        <p:spPr>
          <a:xfrm>
            <a:off x="5918609" y="1866175"/>
            <a:ext cx="45774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 smtClean="0"/>
              <a:t>・ダッシュはスタミナを消費する</a:t>
            </a:r>
            <a:endParaRPr kumimoji="1" lang="en-US" altLang="ja-JP" b="1" dirty="0" smtClean="0"/>
          </a:p>
          <a:p>
            <a:r>
              <a:rPr lang="ja-JP" altLang="en-US" b="1" dirty="0" smtClean="0"/>
              <a:t>・</a:t>
            </a:r>
            <a:r>
              <a:rPr lang="ja-JP" altLang="en-US" b="1" dirty="0"/>
              <a:t>スタミナは時間経過で少しずつ回復</a:t>
            </a:r>
            <a:r>
              <a:rPr lang="ja-JP" altLang="en-US" b="1" dirty="0" smtClean="0"/>
              <a:t>する</a:t>
            </a:r>
            <a:endParaRPr lang="en-US" altLang="ja-JP" b="1" dirty="0" smtClean="0"/>
          </a:p>
          <a:p>
            <a:r>
              <a:rPr lang="ja-JP" altLang="en-US" b="1" dirty="0" smtClean="0"/>
              <a:t>・</a:t>
            </a:r>
            <a:r>
              <a:rPr lang="ja-JP" altLang="en-US" b="1" dirty="0"/>
              <a:t>スタミナが０になると</a:t>
            </a:r>
            <a:endParaRPr lang="en-US" altLang="ja-JP" b="1" dirty="0"/>
          </a:p>
          <a:p>
            <a:r>
              <a:rPr lang="ja-JP" altLang="en-US" b="1" dirty="0" smtClean="0"/>
              <a:t>　全回復</a:t>
            </a:r>
            <a:r>
              <a:rPr lang="ja-JP" altLang="en-US" b="1" dirty="0"/>
              <a:t>するまで移動操作ができなくなる</a:t>
            </a:r>
            <a:endParaRPr lang="en-US" altLang="ja-JP" b="1" dirty="0"/>
          </a:p>
          <a:p>
            <a:endParaRPr lang="en-US" altLang="ja-JP" b="1" dirty="0"/>
          </a:p>
          <a:p>
            <a:endParaRPr kumimoji="1" lang="en-US" altLang="ja-JP" b="1" dirty="0" smtClean="0"/>
          </a:p>
        </p:txBody>
      </p:sp>
      <p:grpSp>
        <p:nvGrpSpPr>
          <p:cNvPr id="77" name="グループ化 76"/>
          <p:cNvGrpSpPr/>
          <p:nvPr/>
        </p:nvGrpSpPr>
        <p:grpSpPr>
          <a:xfrm>
            <a:off x="4442194" y="122458"/>
            <a:ext cx="3307613" cy="939893"/>
            <a:chOff x="3356043" y="122458"/>
            <a:chExt cx="5479915" cy="939893"/>
          </a:xfrm>
        </p:grpSpPr>
        <p:sp>
          <p:nvSpPr>
            <p:cNvPr id="75" name="六角形 74"/>
            <p:cNvSpPr/>
            <p:nvPr/>
          </p:nvSpPr>
          <p:spPr>
            <a:xfrm>
              <a:off x="3356043" y="122458"/>
              <a:ext cx="5479915" cy="899056"/>
            </a:xfrm>
            <a:prstGeom prst="hexagon">
              <a:avLst/>
            </a:prstGeom>
            <a:solidFill>
              <a:schemeClr val="bg1"/>
            </a:solidFill>
            <a:ln w="38100">
              <a:solidFill>
                <a:srgbClr val="054C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" name="テキスト ボックス 75"/>
            <p:cNvSpPr txBox="1"/>
            <p:nvPr/>
          </p:nvSpPr>
          <p:spPr>
            <a:xfrm>
              <a:off x="3603523" y="139021"/>
              <a:ext cx="498495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5400" b="1" dirty="0">
                  <a:ln w="22225">
                    <a:noFill/>
                    <a:prstDash val="solid"/>
                  </a:ln>
                </a:rPr>
                <a:t>遊び方</a:t>
              </a:r>
              <a:endParaRPr kumimoji="1" lang="ja-JP" altLang="en-US" sz="5400" b="1" dirty="0">
                <a:ln w="22225">
                  <a:noFill/>
                  <a:prstDash val="solid"/>
                </a:ln>
              </a:endParaRPr>
            </a:p>
          </p:txBody>
        </p:sp>
      </p:grpSp>
      <p:sp>
        <p:nvSpPr>
          <p:cNvPr id="35" name="テキスト ボックス 34"/>
          <p:cNvSpPr txBox="1"/>
          <p:nvPr/>
        </p:nvSpPr>
        <p:spPr>
          <a:xfrm>
            <a:off x="5859885" y="3778826"/>
            <a:ext cx="46277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>
              <a:defRPr b="1"/>
            </a:lvl1pPr>
          </a:lstStyle>
          <a:p>
            <a:r>
              <a:rPr lang="ja-JP" altLang="en-US" sz="1600" dirty="0"/>
              <a:t>自転車を操作し、プレイヤーを落とさず</a:t>
            </a:r>
            <a:r>
              <a:rPr lang="ja-JP" altLang="en-US" sz="1600" dirty="0" smtClean="0"/>
              <a:t>に</a:t>
            </a:r>
            <a:endParaRPr lang="en-US" altLang="ja-JP" sz="1600" dirty="0" smtClean="0"/>
          </a:p>
          <a:p>
            <a:r>
              <a:rPr lang="ja-JP" altLang="en-US" sz="1600" dirty="0" smtClean="0"/>
              <a:t>ギミック</a:t>
            </a:r>
            <a:r>
              <a:rPr lang="ja-JP" altLang="en-US" sz="1600" dirty="0"/>
              <a:t>を突破</a:t>
            </a:r>
            <a:r>
              <a:rPr lang="ja-JP" altLang="en-US" sz="1600" dirty="0" smtClean="0"/>
              <a:t>して</a:t>
            </a:r>
            <a:endParaRPr lang="en-US" altLang="ja-JP" sz="1600" dirty="0" smtClean="0"/>
          </a:p>
          <a:p>
            <a:r>
              <a:rPr lang="ja-JP" altLang="en-US" sz="1600" dirty="0" smtClean="0"/>
              <a:t>ゴール</a:t>
            </a:r>
            <a:r>
              <a:rPr lang="ja-JP" altLang="en-US" sz="1600" dirty="0"/>
              <a:t>を</a:t>
            </a:r>
            <a:r>
              <a:rPr lang="ja-JP" altLang="en-US" sz="1600" dirty="0" smtClean="0"/>
              <a:t>目指すアクションゲーム。</a:t>
            </a:r>
            <a:endParaRPr lang="en-US" altLang="ja-JP" sz="1600" dirty="0" smtClean="0"/>
          </a:p>
          <a:p>
            <a:r>
              <a:rPr lang="ja-JP" altLang="en-US" sz="1600" dirty="0" smtClean="0"/>
              <a:t>プレイヤー</a:t>
            </a:r>
            <a:r>
              <a:rPr lang="ja-JP" altLang="en-US" sz="1600" dirty="0"/>
              <a:t>がゴールラインを越える</a:t>
            </a:r>
            <a:r>
              <a:rPr lang="ja-JP" altLang="en-US" sz="1600" dirty="0" smtClean="0"/>
              <a:t>と</a:t>
            </a:r>
            <a:endParaRPr lang="en-US" altLang="ja-JP" sz="1600" dirty="0" smtClean="0"/>
          </a:p>
          <a:p>
            <a:r>
              <a:rPr lang="ja-JP" altLang="en-US" sz="1600" dirty="0" smtClean="0"/>
              <a:t>クリア</a:t>
            </a:r>
            <a:r>
              <a:rPr lang="ja-JP" altLang="en-US" sz="1600" dirty="0"/>
              <a:t>となり、赤い床や天井に触れる</a:t>
            </a:r>
            <a:r>
              <a:rPr lang="ja-JP" altLang="en-US" sz="1600" dirty="0" smtClean="0"/>
              <a:t>、</a:t>
            </a:r>
            <a:endParaRPr lang="en-US" altLang="ja-JP" sz="1600" dirty="0" smtClean="0"/>
          </a:p>
          <a:p>
            <a:r>
              <a:rPr lang="ja-JP" altLang="en-US" sz="1600" dirty="0" smtClean="0"/>
              <a:t>プレイヤー</a:t>
            </a:r>
            <a:r>
              <a:rPr lang="ja-JP" altLang="en-US" sz="1600" dirty="0"/>
              <a:t>が落下する</a:t>
            </a:r>
            <a:r>
              <a:rPr lang="ja-JP" altLang="en-US" sz="1600" dirty="0" smtClean="0"/>
              <a:t>、</a:t>
            </a:r>
            <a:endParaRPr lang="en-US" altLang="ja-JP" sz="1600" dirty="0"/>
          </a:p>
          <a:p>
            <a:r>
              <a:rPr lang="ja-JP" altLang="en-US" sz="1600" dirty="0" smtClean="0"/>
              <a:t>また</a:t>
            </a:r>
            <a:r>
              <a:rPr lang="ja-JP" altLang="en-US" sz="1600" dirty="0"/>
              <a:t>は時間切れになるとゲームオーバーとなる。</a:t>
            </a:r>
          </a:p>
          <a:p>
            <a:endParaRPr lang="en-US" altLang="ja-JP" sz="1600" dirty="0"/>
          </a:p>
          <a:p>
            <a:endParaRPr lang="en-US" altLang="ja-JP" sz="1600" dirty="0"/>
          </a:p>
        </p:txBody>
      </p:sp>
      <p:sp>
        <p:nvSpPr>
          <p:cNvPr id="36" name="角丸四角形 35"/>
          <p:cNvSpPr/>
          <p:nvPr/>
        </p:nvSpPr>
        <p:spPr>
          <a:xfrm>
            <a:off x="7214533" y="3257725"/>
            <a:ext cx="1644241" cy="360727"/>
          </a:xfrm>
          <a:prstGeom prst="roundRect">
            <a:avLst>
              <a:gd name="adj" fmla="val 50000"/>
            </a:avLst>
          </a:prstGeom>
          <a:solidFill>
            <a:srgbClr val="025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 smtClean="0"/>
              <a:t>ゲーム内容</a:t>
            </a:r>
            <a:endParaRPr kumimoji="1" lang="ja-JP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511205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152</Words>
  <Application>Microsoft Office PowerPoint</Application>
  <PresentationFormat>ワイド画面</PresentationFormat>
  <Paragraphs>38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操作方法＆説明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GA3</dc:creator>
  <cp:lastModifiedBy>GA3</cp:lastModifiedBy>
  <cp:revision>19</cp:revision>
  <dcterms:created xsi:type="dcterms:W3CDTF">2026-05-15T05:43:55Z</dcterms:created>
  <dcterms:modified xsi:type="dcterms:W3CDTF">2026-06-30T06:25:15Z</dcterms:modified>
</cp:coreProperties>
</file>